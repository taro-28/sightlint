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tlas asymmetric-hard-negative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685800"/>
          </a:xfrm>
          <a:prstGeom prst="roundRect">
            <a:avLst/>
          </a:prstGeom>
          <a:solidFill>
            <a:srgbClr val="E8EEF8"/>
          </a:solidFill>
          <a:ln>
            <a:solidFill>
              <a:srgbClr val="D8DEE9"/>
            </a:solidFill>
          </a:ln>
        </p:spPr>
        <p:txBody>
          <a:bodyPr/>
          <a:lstStyle/>
          <a:p>
            <a:r>
              <a:rPr lang="en-US" sz="1800"/>
              <a:t>Quarterly operations</a:t>
            </a:r>
            <a:endParaRPr lang="en-US"/>
          </a:p>
        </p:txBody>
      </p:sp>
      <p:grpSp>
        <p:nvGrpSpPr>
          <p:cNvPr id="3" name="Metrics group"/>
          <p:cNvGrpSpPr/>
          <p:nvPr/>
        </p:nvGrpSpPr>
        <p:grpSpPr>
          <a:xfrm>
            <a:off x="685800" y="1600200"/>
            <a:ext cx="7467600" cy="1828800"/>
            <a:chOff x="0" y="0"/>
            <a:chExt cx="7467600" cy="1828800"/>
          </a:xfrm>
        </p:grpSpPr>
        <p:sp>
          <p:nvSpPr>
            <p:cNvPr id="4" name="Card 4"/>
            <p:cNvSpPr/>
            <p:nvPr/>
          </p:nvSpPr>
          <p:spPr>
            <a:xfrm>
              <a:off x="0" y="0"/>
              <a:ext cx="3352800" cy="1828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8DEE9"/>
              </a:solidFill>
            </a:ln>
          </p:spPr>
          <p:txBody>
            <a:bodyPr/>
            <a:lstStyle/>
            <a:p>
              <a:r>
                <a:rPr lang="en-US" sz="1800"/>
                <a:t>Primary narrative</a:t>
              </a:r>
              <a:endParaRPr lang="en-US"/>
            </a:p>
          </p:txBody>
        </p:sp>
        <p:sp>
          <p:nvSpPr>
            <p:cNvPr id="5" name="Card 5"/>
            <p:cNvSpPr/>
            <p:nvPr/>
          </p:nvSpPr>
          <p:spPr>
            <a:xfrm>
              <a:off x="3657600" y="0"/>
              <a:ext cx="1371600" cy="1828800"/>
            </a:xfrm>
            <a:prstGeom prst="roundRect">
              <a:avLst/>
            </a:prstGeom>
            <a:solidFill>
              <a:srgbClr val="F5F7FB"/>
            </a:solidFill>
            <a:ln>
              <a:solidFill>
                <a:srgbClr val="D8DEE9"/>
              </a:solidFill>
            </a:ln>
          </p:spPr>
          <p:txBody>
            <a:bodyPr/>
            <a:lstStyle/>
            <a:p>
              <a:r>
                <a:rPr lang="en-US" sz="1800"/>
                <a:t>Supporting note</a:t>
              </a:r>
              <a:endParaRPr lang="en-US"/>
            </a:p>
          </p:txBody>
        </p:sp>
        <p:sp>
          <p:nvSpPr>
            <p:cNvPr id="6" name="Card 6"/>
            <p:cNvSpPr/>
            <p:nvPr/>
          </p:nvSpPr>
          <p:spPr>
            <a:xfrm>
              <a:off x="5638800" y="0"/>
              <a:ext cx="1828800" cy="1828800"/>
            </a:xfrm>
            <a:prstGeom prst="roundRect">
              <a:avLst/>
            </a:prstGeom>
            <a:solidFill>
              <a:srgbClr val="EAF4FF"/>
            </a:solidFill>
            <a:ln>
              <a:solidFill>
                <a:srgbClr val="D8DEE9"/>
              </a:solidFill>
            </a:ln>
          </p:spPr>
          <p:txBody>
            <a:bodyPr/>
            <a:lstStyle/>
            <a:p>
              <a:r>
                <a:rPr lang="en-US" sz="1800"/>
                <a:t>Next action</a:t>
              </a:r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ghtLint fixture">
  <a:themeElements>
    <a:clrScheme name="SightLint">
      <a:dk1>
        <a:srgbClr val="172033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F766E"/>
      </a:accent2>
      <a:accent3>
        <a:srgbClr val="B45309"/>
      </a:accent3>
      <a:accent4>
        <a:srgbClr val="7C3AED"/>
      </a:accent4>
      <a:accent5>
        <a:srgbClr val="BE123C"/>
      </a:accent5>
      <a:accent6>
        <a:srgbClr val="0369A1"/>
      </a:accent6>
      <a:hlink>
        <a:srgbClr val="0000FF"/>
      </a:hlink>
      <a:folHlink>
        <a:srgbClr val="800080"/>
      </a:folHlink>
    </a:clrScheme>
    <a:fontScheme name="SightLint">
      <a:majorFont>
        <a:latin typeface="Liberation Sans"/>
      </a:majorFont>
      <a:minorFont>
        <a:latin typeface="Liberation Sans"/>
      </a:minorFont>
    </a:fontScheme>
    <a:fmtScheme name="SightLin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SightLint fixture generator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SightLint PPTX fixture</dc:title>
  <dc:creator>SightLint project</dc:creator>
  <cp:lastModifiedBy>SightLint project</cp:lastModifiedBy>
</cp:coreProperties>
</file>